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5" r:id="rId3"/>
    <p:sldId id="266" r:id="rId4"/>
    <p:sldId id="267" r:id="rId5"/>
    <p:sldId id="268" r:id="rId6"/>
    <p:sldId id="271" r:id="rId7"/>
    <p:sldId id="278" r:id="rId8"/>
    <p:sldId id="279" r:id="rId9"/>
    <p:sldId id="280" r:id="rId10"/>
    <p:sldId id="281" r:id="rId11"/>
    <p:sldId id="282" r:id="rId12"/>
    <p:sldId id="283" r:id="rId13"/>
    <p:sldId id="272" r:id="rId14"/>
    <p:sldId id="273" r:id="rId15"/>
    <p:sldId id="274" r:id="rId16"/>
    <p:sldId id="277" r:id="rId17"/>
    <p:sldId id="275" r:id="rId18"/>
    <p:sldId id="276" r:id="rId19"/>
    <p:sldId id="28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BA1B"/>
    <a:srgbClr val="EEBA2B"/>
    <a:srgbClr val="FEA11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291" autoAdjust="0"/>
  </p:normalViewPr>
  <p:slideViewPr>
    <p:cSldViewPr snapToGrid="0">
      <p:cViewPr varScale="1">
        <p:scale>
          <a:sx n="68" d="100"/>
          <a:sy n="68" d="100"/>
        </p:scale>
        <p:origin x="8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/>
              <a:t>Profit Chart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Beneficial Cost ($)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2174-45DA-9B69-A975BBD58AAA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2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2174-45DA-9B69-A975BBD58AAA}"/>
              </c:ext>
            </c:extLst>
          </c:dPt>
          <c:dPt>
            <c:idx val="2"/>
            <c:bubble3D val="0"/>
            <c:spPr>
              <a:gradFill rotWithShape="1">
                <a:gsLst>
                  <a:gs pos="0">
                    <a:schemeClr val="accent3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3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3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2174-45DA-9B69-A975BBD58AAA}"/>
              </c:ext>
            </c:extLst>
          </c:dPt>
          <c:dPt>
            <c:idx val="3"/>
            <c:bubble3D val="0"/>
            <c:spPr>
              <a:gradFill rotWithShape="1">
                <a:gsLst>
                  <a:gs pos="0">
                    <a:schemeClr val="accent4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4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4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2174-45DA-9B69-A975BBD58AAA}"/>
              </c:ext>
            </c:extLst>
          </c:dPt>
          <c:dPt>
            <c:idx val="4"/>
            <c:bubble3D val="0"/>
            <c:spPr>
              <a:gradFill rotWithShape="1">
                <a:gsLst>
                  <a:gs pos="0">
                    <a:schemeClr val="accent5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5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5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9-2174-45DA-9B69-A975BBD58AAA}"/>
              </c:ext>
            </c:extLst>
          </c:dPt>
          <c:dPt>
            <c:idx val="5"/>
            <c:bubble3D val="0"/>
            <c:spPr>
              <a:gradFill rotWithShape="1">
                <a:gsLst>
                  <a:gs pos="0">
                    <a:schemeClr val="accent6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6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6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B-2174-45DA-9B69-A975BBD58AAA}"/>
              </c:ext>
            </c:extLst>
          </c:dPt>
          <c:dPt>
            <c:idx val="6"/>
            <c:bubble3D val="0"/>
            <c:spPr>
              <a:gradFill rotWithShape="1">
                <a:gsLst>
                  <a:gs pos="0">
                    <a:schemeClr val="accent1">
                      <a:lumMod val="60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lumMod val="60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lumMod val="60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D-2174-45DA-9B69-A975BBD58AAA}"/>
              </c:ext>
            </c:extLst>
          </c:dPt>
          <c:dPt>
            <c:idx val="7"/>
            <c:bubble3D val="0"/>
            <c:spPr>
              <a:gradFill rotWithShape="1">
                <a:gsLst>
                  <a:gs pos="0">
                    <a:schemeClr val="accent2">
                      <a:lumMod val="60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lumMod val="60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lumMod val="60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F-2174-45DA-9B69-A975BBD58AAA}"/>
              </c:ext>
            </c:extLst>
          </c:dPt>
          <c:dPt>
            <c:idx val="8"/>
            <c:bubble3D val="0"/>
            <c:spPr>
              <a:gradFill rotWithShape="1">
                <a:gsLst>
                  <a:gs pos="0">
                    <a:schemeClr val="accent3">
                      <a:lumMod val="60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3">
                      <a:lumMod val="60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3">
                      <a:lumMod val="60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1-2174-45DA-9B69-A975BBD58AAA}"/>
              </c:ext>
            </c:extLst>
          </c:dPt>
          <c:dPt>
            <c:idx val="9"/>
            <c:bubble3D val="0"/>
            <c:spPr>
              <a:gradFill rotWithShape="1">
                <a:gsLst>
                  <a:gs pos="0">
                    <a:schemeClr val="accent4">
                      <a:lumMod val="60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4">
                      <a:lumMod val="60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4">
                      <a:lumMod val="60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3-2174-45DA-9B69-A975BBD58AAA}"/>
              </c:ext>
            </c:extLst>
          </c:dPt>
          <c:dPt>
            <c:idx val="10"/>
            <c:bubble3D val="0"/>
            <c:spPr>
              <a:gradFill rotWithShape="1">
                <a:gsLst>
                  <a:gs pos="0">
                    <a:schemeClr val="accent5">
                      <a:lumMod val="60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5">
                      <a:lumMod val="60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5">
                      <a:lumMod val="60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5-2174-45DA-9B69-A975BBD58AAA}"/>
              </c:ext>
            </c:extLst>
          </c:dPt>
          <c:dPt>
            <c:idx val="11"/>
            <c:bubble3D val="0"/>
            <c:spPr>
              <a:gradFill rotWithShape="1">
                <a:gsLst>
                  <a:gs pos="0">
                    <a:schemeClr val="accent6">
                      <a:lumMod val="60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6">
                      <a:lumMod val="60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6">
                      <a:lumMod val="60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7-2174-45DA-9B69-A975BBD58AAA}"/>
              </c:ext>
            </c:extLst>
          </c:dPt>
          <c:dPt>
            <c:idx val="12"/>
            <c:bubble3D val="0"/>
            <c:spPr>
              <a:gradFill rotWithShape="1">
                <a:gsLst>
                  <a:gs pos="0">
                    <a:schemeClr val="accent1">
                      <a:lumMod val="80000"/>
                      <a:lumOff val="20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lumMod val="80000"/>
                      <a:lumOff val="20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lumMod val="80000"/>
                      <a:lumOff val="20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9-2174-45DA-9B69-A975BBD58AAA}"/>
              </c:ext>
            </c:extLst>
          </c:dPt>
          <c:dPt>
            <c:idx val="13"/>
            <c:bubble3D val="0"/>
            <c:spPr>
              <a:gradFill rotWithShape="1">
                <a:gsLst>
                  <a:gs pos="0">
                    <a:schemeClr val="accent2">
                      <a:lumMod val="80000"/>
                      <a:lumOff val="20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lumMod val="80000"/>
                      <a:lumOff val="20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lumMod val="80000"/>
                      <a:lumOff val="20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B-2174-45DA-9B69-A975BBD58AAA}"/>
              </c:ext>
            </c:extLst>
          </c:dPt>
          <c:dPt>
            <c:idx val="14"/>
            <c:bubble3D val="0"/>
            <c:spPr>
              <a:gradFill rotWithShape="1">
                <a:gsLst>
                  <a:gs pos="0">
                    <a:schemeClr val="accent3">
                      <a:lumMod val="80000"/>
                      <a:lumOff val="20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3">
                      <a:lumMod val="80000"/>
                      <a:lumOff val="20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3">
                      <a:lumMod val="80000"/>
                      <a:lumOff val="20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D-2174-45DA-9B69-A975BBD58AAA}"/>
              </c:ext>
            </c:extLst>
          </c:dPt>
          <c:dPt>
            <c:idx val="15"/>
            <c:bubble3D val="0"/>
            <c:spPr>
              <a:gradFill rotWithShape="1">
                <a:gsLst>
                  <a:gs pos="0">
                    <a:schemeClr val="accent4">
                      <a:lumMod val="80000"/>
                      <a:lumOff val="20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4">
                      <a:lumMod val="80000"/>
                      <a:lumOff val="20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4">
                      <a:lumMod val="80000"/>
                      <a:lumOff val="20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F-2174-45DA-9B69-A975BBD58AAA}"/>
              </c:ext>
            </c:extLst>
          </c:dPt>
          <c:dPt>
            <c:idx val="16"/>
            <c:bubble3D val="0"/>
            <c:spPr>
              <a:gradFill rotWithShape="1">
                <a:gsLst>
                  <a:gs pos="0">
                    <a:schemeClr val="accent5">
                      <a:lumMod val="80000"/>
                      <a:lumOff val="20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5">
                      <a:lumMod val="80000"/>
                      <a:lumOff val="20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5">
                      <a:lumMod val="80000"/>
                      <a:lumOff val="20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21-2174-45DA-9B69-A975BBD58AAA}"/>
              </c:ext>
            </c:extLst>
          </c:dPt>
          <c:dPt>
            <c:idx val="17"/>
            <c:bubble3D val="0"/>
            <c:spPr>
              <a:gradFill rotWithShape="1">
                <a:gsLst>
                  <a:gs pos="0">
                    <a:schemeClr val="accent6">
                      <a:lumMod val="80000"/>
                      <a:lumOff val="20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6">
                      <a:lumMod val="80000"/>
                      <a:lumOff val="20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6">
                      <a:lumMod val="80000"/>
                      <a:lumOff val="20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23-2174-45DA-9B69-A975BBD58AAA}"/>
              </c:ext>
            </c:extLst>
          </c:dPt>
          <c:dPt>
            <c:idx val="18"/>
            <c:bubble3D val="0"/>
            <c:spPr>
              <a:gradFill rotWithShape="1">
                <a:gsLst>
                  <a:gs pos="0">
                    <a:schemeClr val="accent1">
                      <a:lumMod val="80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lumMod val="80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lumMod val="80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25-2174-45DA-9B69-A975BBD58AAA}"/>
              </c:ext>
            </c:extLst>
          </c:dPt>
          <c:dPt>
            <c:idx val="19"/>
            <c:bubble3D val="0"/>
            <c:spPr>
              <a:gradFill rotWithShape="1">
                <a:gsLst>
                  <a:gs pos="0">
                    <a:schemeClr val="accent2">
                      <a:lumMod val="80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lumMod val="80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lumMod val="80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27-2174-45DA-9B69-A975BBD58AAA}"/>
              </c:ext>
            </c:extLst>
          </c:dPt>
          <c:dPt>
            <c:idx val="20"/>
            <c:bubble3D val="0"/>
            <c:spPr>
              <a:gradFill rotWithShape="1">
                <a:gsLst>
                  <a:gs pos="0">
                    <a:schemeClr val="accent3">
                      <a:lumMod val="80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3">
                      <a:lumMod val="80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3">
                      <a:lumMod val="80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29-2174-45DA-9B69-A975BBD58AAA}"/>
              </c:ext>
            </c:extLst>
          </c:dPt>
          <c:dPt>
            <c:idx val="21"/>
            <c:bubble3D val="0"/>
            <c:spPr>
              <a:gradFill rotWithShape="1">
                <a:gsLst>
                  <a:gs pos="0">
                    <a:schemeClr val="accent4">
                      <a:lumMod val="80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4">
                      <a:lumMod val="80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4">
                      <a:lumMod val="80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2B-2174-45DA-9B69-A975BBD58AAA}"/>
              </c:ext>
            </c:extLst>
          </c:dPt>
          <c:dPt>
            <c:idx val="22"/>
            <c:bubble3D val="0"/>
            <c:spPr>
              <a:gradFill rotWithShape="1">
                <a:gsLst>
                  <a:gs pos="0">
                    <a:schemeClr val="accent5">
                      <a:lumMod val="80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5">
                      <a:lumMod val="80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5">
                      <a:lumMod val="80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2D-2174-45DA-9B69-A975BBD58AAA}"/>
              </c:ext>
            </c:extLst>
          </c:dPt>
          <c:dPt>
            <c:idx val="23"/>
            <c:bubble3D val="0"/>
            <c:spPr>
              <a:gradFill rotWithShape="1">
                <a:gsLst>
                  <a:gs pos="0">
                    <a:schemeClr val="accent6">
                      <a:lumMod val="80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6">
                      <a:lumMod val="80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6">
                      <a:lumMod val="80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2F-2174-45DA-9B69-A975BBD58AAA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>
                  <a:solidFill>
                    <a:schemeClr val="lt1">
                      <a:lumMod val="95000"/>
                      <a:alpha val="54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Sheet1!$A$2:$A$29</c:f>
              <c:strCache>
                <c:ptCount val="24"/>
                <c:pt idx="0">
                  <c:v>Crispy Fried Chicken</c:v>
                </c:pt>
                <c:pt idx="1">
                  <c:v>Cheese Pizza</c:v>
                </c:pt>
                <c:pt idx="2">
                  <c:v>Mini Sliders With Fries</c:v>
                </c:pt>
                <c:pt idx="3">
                  <c:v>Grilled Club Sandwich</c:v>
                </c:pt>
                <c:pt idx="4">
                  <c:v>Fresh Spring Rolls</c:v>
                </c:pt>
                <c:pt idx="5">
                  <c:v>Samosas With Chutney</c:v>
                </c:pt>
                <c:pt idx="6">
                  <c:v>Fresh Fries With Dips</c:v>
                </c:pt>
                <c:pt idx="7">
                  <c:v>Fresh Garden Salad</c:v>
                </c:pt>
                <c:pt idx="8">
                  <c:v>Chicken Burger</c:v>
                </c:pt>
                <c:pt idx="9">
                  <c:v>Fruit &amp; Yogurt Bowl</c:v>
                </c:pt>
                <c:pt idx="10">
                  <c:v>Boiled Eggs With Greens</c:v>
                </c:pt>
                <c:pt idx="11">
                  <c:v>Mediterranean Platter</c:v>
                </c:pt>
                <c:pt idx="12">
                  <c:v>Pumpkin Soup</c:v>
                </c:pt>
                <c:pt idx="13">
                  <c:v>Vegetable Soup</c:v>
                </c:pt>
                <c:pt idx="14">
                  <c:v>Spinach Chicken</c:v>
                </c:pt>
                <c:pt idx="15">
                  <c:v>Pasta With Vegetables</c:v>
                </c:pt>
                <c:pt idx="16">
                  <c:v>Dessert Plate</c:v>
                </c:pt>
                <c:pt idx="17">
                  <c:v>Mixed Chicken</c:v>
                </c:pt>
                <c:pt idx="18">
                  <c:v>Grilled Meat</c:v>
                </c:pt>
                <c:pt idx="19">
                  <c:v>Fruit Porridge</c:v>
                </c:pt>
                <c:pt idx="20">
                  <c:v>Grilled Fish</c:v>
                </c:pt>
                <c:pt idx="21">
                  <c:v>Beef Steek</c:v>
                </c:pt>
                <c:pt idx="22">
                  <c:v>Chicken Wrap</c:v>
                </c:pt>
                <c:pt idx="23">
                  <c:v>Chocolate Cake</c:v>
                </c:pt>
              </c:strCache>
              <c:extLst/>
            </c:strRef>
          </c:cat>
          <c:val>
            <c:numRef>
              <c:f>Sheet1!$B$2:$B$29</c:f>
              <c:numCache>
                <c:formatCode>_("$"* #,##0.00_);_("$"* \(#,##0.00\);_("$"* "-"??_);_(@_)</c:formatCode>
                <c:ptCount val="24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3</c:v>
                </c:pt>
                <c:pt idx="4">
                  <c:v>3</c:v>
                </c:pt>
                <c:pt idx="5">
                  <c:v>3</c:v>
                </c:pt>
                <c:pt idx="6">
                  <c:v>3</c:v>
                </c:pt>
                <c:pt idx="7">
                  <c:v>2</c:v>
                </c:pt>
                <c:pt idx="8">
                  <c:v>4</c:v>
                </c:pt>
                <c:pt idx="9">
                  <c:v>5</c:v>
                </c:pt>
                <c:pt idx="10">
                  <c:v>3</c:v>
                </c:pt>
                <c:pt idx="11">
                  <c:v>3</c:v>
                </c:pt>
                <c:pt idx="12">
                  <c:v>2</c:v>
                </c:pt>
                <c:pt idx="13">
                  <c:v>4</c:v>
                </c:pt>
                <c:pt idx="14">
                  <c:v>2</c:v>
                </c:pt>
                <c:pt idx="15">
                  <c:v>2</c:v>
                </c:pt>
                <c:pt idx="16">
                  <c:v>7</c:v>
                </c:pt>
                <c:pt idx="17">
                  <c:v>4</c:v>
                </c:pt>
                <c:pt idx="18">
                  <c:v>5</c:v>
                </c:pt>
                <c:pt idx="19">
                  <c:v>3</c:v>
                </c:pt>
                <c:pt idx="20">
                  <c:v>3</c:v>
                </c:pt>
                <c:pt idx="21">
                  <c:v>4</c:v>
                </c:pt>
                <c:pt idx="22">
                  <c:v>3</c:v>
                </c:pt>
                <c:pt idx="23">
                  <c:v>8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0-905F-425A-A152-7A9BCC2AD701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>
      <a:glow rad="101600">
        <a:srgbClr val="EEBA1B">
          <a:alpha val="40000"/>
        </a:srgbClr>
      </a:glow>
    </a:effectLst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1" i="0" u="none" strike="noStrike" kern="1200" cap="none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Selling</a:t>
            </a:r>
            <a:r>
              <a:rPr lang="en-US" baseline="0" dirty="0"/>
              <a:t> Price Chart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1" i="0" u="none" strike="noStrike" kern="1200" cap="none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1"/>
          <c:order val="0"/>
          <c:tx>
            <c:strRef>
              <c:f>Sheet1!$B$1</c:f>
              <c:strCache>
                <c:ptCount val="1"/>
                <c:pt idx="0">
                  <c:v>Selling Price ($)</c:v>
                </c:pt>
              </c:strCache>
            </c:strRef>
          </c:tx>
          <c:spPr>
            <a:noFill/>
            <a:ln w="9525" cap="flat" cmpd="sng" algn="ctr">
              <a:solidFill>
                <a:schemeClr val="accent4"/>
              </a:solidFill>
              <a:miter lim="800000"/>
            </a:ln>
            <a:effectLst>
              <a:glow rad="63500">
                <a:schemeClr val="accent4">
                  <a:satMod val="175000"/>
                  <a:alpha val="25000"/>
                </a:schemeClr>
              </a:glow>
            </a:effectLst>
          </c:spPr>
          <c:invertIfNegative val="0"/>
          <c:dLbls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6E35-4AEB-A4E1-9266A089053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lt1">
                        <a:lumMod val="7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50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Sheet1!$A$2:$A$26</c:f>
              <c:strCache>
                <c:ptCount val="25"/>
                <c:pt idx="1">
                  <c:v>Crispy Fried Chicken</c:v>
                </c:pt>
                <c:pt idx="2">
                  <c:v>Cheese Pizza</c:v>
                </c:pt>
                <c:pt idx="3">
                  <c:v>Mini Sliders With Fries</c:v>
                </c:pt>
                <c:pt idx="4">
                  <c:v>Grilled Club Sandwich</c:v>
                </c:pt>
                <c:pt idx="5">
                  <c:v>Fresh Spring Rolls</c:v>
                </c:pt>
                <c:pt idx="6">
                  <c:v>Samosas With Chutney</c:v>
                </c:pt>
                <c:pt idx="7">
                  <c:v>Fresh Fries With Dips</c:v>
                </c:pt>
                <c:pt idx="8">
                  <c:v>Fresh Garden Salad</c:v>
                </c:pt>
                <c:pt idx="9">
                  <c:v>Chicken Burger</c:v>
                </c:pt>
                <c:pt idx="10">
                  <c:v>Fruit &amp; Yogurt Bowl</c:v>
                </c:pt>
                <c:pt idx="11">
                  <c:v>Boiled Eggs With Greens</c:v>
                </c:pt>
                <c:pt idx="12">
                  <c:v>Mediterranean Platter</c:v>
                </c:pt>
                <c:pt idx="13">
                  <c:v>Pumpkin Soup</c:v>
                </c:pt>
                <c:pt idx="14">
                  <c:v>Vegetable Soup</c:v>
                </c:pt>
                <c:pt idx="15">
                  <c:v>Spinach Chicken</c:v>
                </c:pt>
                <c:pt idx="16">
                  <c:v>Pasta With Vegetables</c:v>
                </c:pt>
                <c:pt idx="17">
                  <c:v>Dessert Plate</c:v>
                </c:pt>
                <c:pt idx="18">
                  <c:v>Mixed Chicken</c:v>
                </c:pt>
                <c:pt idx="19">
                  <c:v>Grilled Meat</c:v>
                </c:pt>
                <c:pt idx="20">
                  <c:v>Fruit Porridge</c:v>
                </c:pt>
                <c:pt idx="21">
                  <c:v>Grilled Fish</c:v>
                </c:pt>
                <c:pt idx="22">
                  <c:v>Beef Steek</c:v>
                </c:pt>
                <c:pt idx="23">
                  <c:v>Chicken Wrap</c:v>
                </c:pt>
                <c:pt idx="24">
                  <c:v>Chocolate Cake</c:v>
                </c:pt>
              </c:strCache>
            </c:strRef>
          </c:cat>
          <c:val>
            <c:numRef>
              <c:f>Sheet1!$B$2:$B$26</c:f>
              <c:numCache>
                <c:formatCode>_("$"* #,##0.00_);_("$"* \(#,##0.00\);_("$"* "-"??_);_(@_)</c:formatCode>
                <c:ptCount val="25"/>
                <c:pt idx="1">
                  <c:v>13</c:v>
                </c:pt>
                <c:pt idx="2">
                  <c:v>12</c:v>
                </c:pt>
                <c:pt idx="3">
                  <c:v>15</c:v>
                </c:pt>
                <c:pt idx="4">
                  <c:v>11</c:v>
                </c:pt>
                <c:pt idx="5">
                  <c:v>19</c:v>
                </c:pt>
                <c:pt idx="6">
                  <c:v>20</c:v>
                </c:pt>
                <c:pt idx="7">
                  <c:v>21</c:v>
                </c:pt>
                <c:pt idx="8">
                  <c:v>16</c:v>
                </c:pt>
                <c:pt idx="9">
                  <c:v>17</c:v>
                </c:pt>
                <c:pt idx="10">
                  <c:v>22</c:v>
                </c:pt>
                <c:pt idx="11">
                  <c:v>14</c:v>
                </c:pt>
                <c:pt idx="12">
                  <c:v>12</c:v>
                </c:pt>
                <c:pt idx="13">
                  <c:v>11</c:v>
                </c:pt>
                <c:pt idx="14">
                  <c:v>18</c:v>
                </c:pt>
                <c:pt idx="15">
                  <c:v>19</c:v>
                </c:pt>
                <c:pt idx="16">
                  <c:v>20</c:v>
                </c:pt>
                <c:pt idx="17">
                  <c:v>23</c:v>
                </c:pt>
                <c:pt idx="18">
                  <c:v>16</c:v>
                </c:pt>
                <c:pt idx="19">
                  <c:v>26</c:v>
                </c:pt>
                <c:pt idx="20">
                  <c:v>23</c:v>
                </c:pt>
                <c:pt idx="21">
                  <c:v>28</c:v>
                </c:pt>
                <c:pt idx="22">
                  <c:v>30</c:v>
                </c:pt>
                <c:pt idx="23">
                  <c:v>24</c:v>
                </c:pt>
                <c:pt idx="24">
                  <c:v>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E35-4AEB-A4E1-9266A089053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315"/>
        <c:overlap val="-40"/>
        <c:axId val="1676715184"/>
        <c:axId val="1676712272"/>
      </c:barChart>
      <c:catAx>
        <c:axId val="1676715184"/>
        <c:scaling>
          <c:orientation val="minMax"/>
        </c:scaling>
        <c:delete val="0"/>
        <c:axPos val="b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75000"/>
                      <a:lumOff val="25000"/>
                    </a:schemeClr>
                  </a:gs>
                  <a:gs pos="0">
                    <a:schemeClr val="dk1">
                      <a:lumMod val="65000"/>
                      <a:lumOff val="35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bg2">
                <a:lumMod val="10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76712272"/>
        <c:crosses val="autoZero"/>
        <c:auto val="1"/>
        <c:lblAlgn val="ctr"/>
        <c:lblOffset val="100"/>
        <c:noMultiLvlLbl val="0"/>
      </c:catAx>
      <c:valAx>
        <c:axId val="1676712272"/>
        <c:scaling>
          <c:orientation val="minMax"/>
        </c:scaling>
        <c:delete val="0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75000"/>
                      <a:lumOff val="25000"/>
                    </a:schemeClr>
                  </a:gs>
                  <a:gs pos="0">
                    <a:schemeClr val="dk1">
                      <a:lumMod val="65000"/>
                      <a:lumOff val="35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_(&quot;$&quot;* #,##0.00_);_(&quot;$&quot;* \(#,##0.00\);_(&quot;$&quot;* &quot;-&quot;??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767151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dk1">
        <a:lumMod val="75000"/>
        <a:lumOff val="25000"/>
      </a:schemeClr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>
      <a:glow rad="101600">
        <a:srgbClr val="EEBA1B">
          <a:alpha val="40000"/>
        </a:srgbClr>
      </a:glow>
    </a:effectLst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7">
  <cs:axisTitle>
    <cs:lnRef idx="0"/>
    <cs:fillRef idx="0"/>
    <cs:effectRef idx="0"/>
    <cs:fontRef idx="minor">
      <a:schemeClr val="lt1">
        <a:lumMod val="85000"/>
      </a:schemeClr>
    </cs:fontRef>
    <cs:defRPr sz="1197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330" kern="1200"/>
  </cs:chartArea>
  <cs:dataLabel>
    <cs:lnRef idx="0"/>
    <cs:fillRef idx="0"/>
    <cs:effectRef idx="0"/>
    <cs:fontRef idx="minor">
      <a:schemeClr val="lt1">
        <a:lumMod val="8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1197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2128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1197" kern="1200"/>
  </cs:valueAxis>
  <cs:wall>
    <cs:lnRef idx="0"/>
    <cs:fillRef idx="0"/>
    <cs:effectRef idx="0"/>
    <cs:fontRef idx="minor">
      <a:schemeClr val="tx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13">
  <cs:axisTitle>
    <cs:lnRef idx="0"/>
    <cs:fillRef idx="0"/>
    <cs:effectRef idx="0"/>
    <cs:fontRef idx="minor">
      <a:schemeClr val="lt1">
        <a:lumMod val="75000"/>
      </a:schemeClr>
    </cs:fontRef>
    <cs:defRPr sz="1197" b="1" kern="1200"/>
  </cs:axisTitle>
  <cs:categoryAxis>
    <cs:lnRef idx="0"/>
    <cs:fillRef idx="0"/>
    <cs:effectRef idx="0"/>
    <cs:fontRef idx="minor">
      <a:schemeClr val="lt1">
        <a:lumMod val="75000"/>
      </a:schemeClr>
    </cs:fontRef>
    <cs:defRPr sz="1197" kern="1200"/>
  </cs:categoryAxis>
  <cs:chartArea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>
        <a:lumMod val="75000"/>
      </a:schemeClr>
    </cs:fontRef>
    <cs:defRPr sz="1197" kern="1200"/>
  </cs:dataLabel>
  <cs:dataLabelCallout>
    <cs:lnRef idx="0"/>
    <cs:fillRef idx="0"/>
    <cs:effectRef idx="0"/>
    <cs:fontRef idx="minor">
      <a:schemeClr val="lt1">
        <a:lumMod val="15000"/>
        <a:lumOff val="85000"/>
      </a:schemeClr>
    </cs:fontRef>
    <cs:spPr>
      <a:solidFill>
        <a:schemeClr val="dk1">
          <a:lumMod val="65000"/>
          <a:lumOff val="35000"/>
        </a:schemeClr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/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>
  <cs:dataPoint3D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3D>
  <cs:dataPointLine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22225" cap="rnd">
        <a:solidFill>
          <a:schemeClr val="phClr"/>
        </a:solidFill>
      </a:ln>
      <a:effectLst>
        <a:glow rad="139700">
          <a:schemeClr val="phClr">
            <a:satMod val="175000"/>
            <a:alpha val="14000"/>
          </a:schemeClr>
        </a:glow>
      </a:effectLst>
    </cs:spPr>
  </cs:dataPointLine>
  <cs:dataPointMarker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solidFill>
        <a:schemeClr val="phClr">
          <a:lumMod val="60000"/>
          <a:lumOff val="40000"/>
        </a:schemeClr>
      </a:solidFill>
      <a:effectLst>
        <a:glow rad="63500">
          <a:schemeClr val="phClr">
            <a:satMod val="175000"/>
            <a:alpha val="25000"/>
          </a:schemeClr>
        </a:glow>
      </a:effectLst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75000"/>
      </a:schemeClr>
    </cs:fontRef>
    <cs:spPr>
      <a:ln w="9525">
        <a:solidFill>
          <a:schemeClr val="dk1">
            <a:lumMod val="50000"/>
            <a:lumOff val="50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75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75000"/>
                <a:lumOff val="25000"/>
              </a:schemeClr>
            </a:gs>
            <a:gs pos="0">
              <a:schemeClr val="dk1">
                <a:lumMod val="65000"/>
                <a:lumOff val="35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75000"/>
                <a:lumOff val="25000"/>
                <a:alpha val="25000"/>
              </a:schemeClr>
            </a:gs>
            <a:gs pos="0">
              <a:schemeClr val="dk1">
                <a:lumMod val="65000"/>
                <a:lumOff val="35000"/>
                <a:alpha val="25000"/>
              </a:schemeClr>
            </a:gs>
          </a:gsLst>
          <a:lin ang="5400000" scaled="0"/>
        </a:gra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leaderLine>
  <cs:legend>
    <cs:lnRef idx="0"/>
    <cs:fillRef idx="0"/>
    <cs:effectRef idx="0"/>
    <cs:fontRef idx="minor">
      <a:schemeClr val="lt1">
        <a:lumMod val="75000"/>
      </a:schemeClr>
    </cs:fontRef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lt1">
        <a:lumMod val="7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85000"/>
      </a:schemeClr>
    </cs:fontRef>
    <cs:defRPr sz="1862" b="1" kern="1200" cap="none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25400" cap="rnd">
        <a:solidFill>
          <a:schemeClr val="phClr">
            <a:alpha val="50000"/>
          </a:schemeClr>
        </a:solidFill>
      </a:ln>
    </cs:spPr>
  </cs:trendline>
  <cs:trendlineLabel>
    <cs:lnRef idx="0"/>
    <cs:fillRef idx="0"/>
    <cs:effectRef idx="0"/>
    <cs:fontRef idx="minor">
      <a:schemeClr val="lt1">
        <a:lumMod val="7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>
          <a:lumMod val="85000"/>
        </a:schemeClr>
      </a:solidFill>
      <a:ln w="9525">
        <a:solidFill>
          <a:schemeClr val="dk1">
            <a:lumMod val="50000"/>
          </a:schemeClr>
        </a:solidFill>
        <a:round/>
      </a:ln>
    </cs:spPr>
  </cs:upBar>
  <cs:valueAxis>
    <cs:lnRef idx="0"/>
    <cs:fillRef idx="0"/>
    <cs:effectRef idx="0"/>
    <cs:fontRef idx="minor">
      <a:schemeClr val="lt1">
        <a:lumMod val="7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5ED7B-B5AE-46CF-90D2-51ED09BA98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1C068B-FC8D-4A78-BB7C-6AEB73BA3E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14C5CA-B54D-4B9F-9515-25246D8E6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1B836-DCA1-414F-A63A-66F0A39DF23C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33FDF1-F787-4DA0-87A4-917A04A8D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3EFA8D-9961-481F-949E-4D3F5CE35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CB108-29F6-42E7-AE33-4CCE3A26F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2906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0D9BB-31FB-4D0D-A3A3-1E6C92C99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BEA4C1-10C4-4443-8AEA-587142D90B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6D0040-FD3C-414B-9962-A3C90C404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1B836-DCA1-414F-A63A-66F0A39DF23C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25DB9E-7D29-46E6-A258-62F2ABC4E8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6E7B72-D734-4F0C-AD2E-D9090AA5B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CB108-29F6-42E7-AE33-4CCE3A26F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8269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F7F16-4286-4581-80B6-44410832D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FA445F-FD4B-484B-A958-EFF5306B94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2C7992-E7D7-4806-A11C-095BD24CCD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1B836-DCA1-414F-A63A-66F0A39DF23C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2B69D5-B768-404A-91E4-042E1993E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BC28D6-D8FF-48A0-A7C7-B58AA0298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CB108-29F6-42E7-AE33-4CCE3A26F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2929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EFF21-76BE-4A0B-884F-1B20F389C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0BCAC0-D103-4BD1-8F6E-42CE636FC3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10B3E8-B56B-48FA-9610-34357DEE52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B5D5F7-0830-4C40-9CF2-9C4506CF9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1B836-DCA1-414F-A63A-66F0A39DF23C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54DCB1-B514-4CD3-AA42-5EAFDD6F9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562B67-F617-4911-88AF-E19EF9ED1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CB108-29F6-42E7-AE33-4CCE3A26F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9088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F56B6-244F-4A4C-9023-7EC89937C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E465C0-E3CD-4094-9A5B-EBD5425C30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6A3FF9-AFAA-4C37-9FEE-256653A6C5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725AC7-6159-4A6B-A7D6-115EA1FEDF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02238A-13BA-46CF-930D-0A92A1EEAA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9ADB24E-7B63-4D58-B7B4-259A20E3E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1B836-DCA1-414F-A63A-66F0A39DF23C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27B8653-DD69-469E-B6C0-7C1442A2D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BD164A-CB16-44DF-A447-832825FCF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CB108-29F6-42E7-AE33-4CCE3A26F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3095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CB3E0-8394-4786-BBF2-2003806D8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5DFD0B-E82D-4771-8572-7BD645EE6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1B836-DCA1-414F-A63A-66F0A39DF23C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3C337A-9E43-4AE8-A8FD-FD02B2F6E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E9A1BF-F0AB-4527-996C-426F7C07C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CB108-29F6-42E7-AE33-4CCE3A26F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044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CCFBB25-FE3C-4FB0-B78B-A02A70D989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1B836-DCA1-414F-A63A-66F0A39DF23C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6B4E4A-6B73-46BA-9C30-7910437E9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D6EAE3-8B64-4525-8F8B-DA3B5DC79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CB108-29F6-42E7-AE33-4CCE3A26F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9734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22D15-F607-4CBD-BCDF-FDF8DD346B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BE5FE8-713A-4E6D-9C7E-2743D9C7BF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191B78-C7BB-44B1-AD12-BC63EF4B71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F55694-599E-4AA1-B9DE-49DE74016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1B836-DCA1-414F-A63A-66F0A39DF23C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258087-97C0-445F-913E-1D6F6FC662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ECFA32-B66B-497D-AC02-2EE10449D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CB108-29F6-42E7-AE33-4CCE3A26F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279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2105F-6A9B-4712-9057-2123BF11EC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B93BBB8-B022-471F-92B9-0F01EF8600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4E3A46-588A-4D85-8702-28E1D46A08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52AFFE-1B77-4B88-831A-20BD7DD83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1B836-DCA1-414F-A63A-66F0A39DF23C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47482D-FF2A-41F8-A627-EDCFBC6ED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C483E8-1A5F-49A1-AE8C-7DD22D307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CB108-29F6-42E7-AE33-4CCE3A26F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4495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2192E0-C696-46B1-A13E-408954B82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5360D3-17AD-435C-B5DB-FA82A8A9CD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D116A2-F9CE-4D3A-BDDB-4FD2418BA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1B836-DCA1-414F-A63A-66F0A39DF23C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6D47CD-1618-4144-8F5D-4C5BE37F3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9A4409-7EEF-4AF5-8248-EC522011F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CB108-29F6-42E7-AE33-4CCE3A26F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2935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06364D8-6F1F-4120-A885-654759A375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CB809B-929E-4FBD-B387-0B96FC7B35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91439A-DB43-4A4E-91D9-52676EA0B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1B836-DCA1-414F-A63A-66F0A39DF23C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8BECF1-6A2E-4702-9781-0BFF9A1C8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D3E03F-5BD3-45B1-A6FB-49B076B34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CB108-29F6-42E7-AE33-4CCE3A26F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8958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39B643-FE3E-4171-BC06-5D339E6FC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4AE5A7-484E-443D-A1B1-D9C75E65DB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A67BB3-F020-4C0D-AA7B-F76A773FFB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01B836-DCA1-414F-A63A-66F0A39DF23C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6DEE31-A8C2-44A5-80CC-7EF9D3FDEB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9ED153-7A52-4F52-86E4-A31B1D2027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CCB108-29F6-42E7-AE33-4CCE3A26F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4753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07102E2-3286-4CCD-B070-30E2040679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0B22F8C-4B91-4AA5-9E91-D50EB24B1357}"/>
              </a:ext>
            </a:extLst>
          </p:cNvPr>
          <p:cNvSpPr txBox="1"/>
          <p:nvPr/>
        </p:nvSpPr>
        <p:spPr>
          <a:xfrm>
            <a:off x="1144172" y="555674"/>
            <a:ext cx="990365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solidFill>
                  <a:srgbClr val="EEBA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ONLINE RESTAURANT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25C42EE-F160-40F0-8745-E5B33D91A1C8}"/>
              </a:ext>
            </a:extLst>
          </p:cNvPr>
          <p:cNvSpPr/>
          <p:nvPr/>
        </p:nvSpPr>
        <p:spPr>
          <a:xfrm>
            <a:off x="3249638" y="1406769"/>
            <a:ext cx="5416062" cy="4600136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4387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07102E2-3286-4CCD-B070-30E2040679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25C42EE-F160-40F0-8745-E5B33D91A1C8}"/>
              </a:ext>
            </a:extLst>
          </p:cNvPr>
          <p:cNvSpPr/>
          <p:nvPr/>
        </p:nvSpPr>
        <p:spPr>
          <a:xfrm>
            <a:off x="3235570" y="1406769"/>
            <a:ext cx="5416062" cy="4600136"/>
          </a:xfrm>
          <a:prstGeom prst="rect">
            <a:avLst/>
          </a:prstGeom>
          <a:blipFill>
            <a:blip r:embed="rId3">
              <a:alphaModFix amt="15000"/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A82DDA-D0C2-474C-8C19-814751B7E6F5}"/>
              </a:ext>
            </a:extLst>
          </p:cNvPr>
          <p:cNvSpPr txBox="1"/>
          <p:nvPr/>
        </p:nvSpPr>
        <p:spPr>
          <a:xfrm>
            <a:off x="3235570" y="783289"/>
            <a:ext cx="541606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i="1" u="sng" dirty="0">
                <a:solidFill>
                  <a:srgbClr val="EEBA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Team overview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306323E-DC49-43B8-905F-1D18755FEF77}"/>
              </a:ext>
            </a:extLst>
          </p:cNvPr>
          <p:cNvSpPr txBox="1"/>
          <p:nvPr/>
        </p:nvSpPr>
        <p:spPr>
          <a:xfrm>
            <a:off x="1879209" y="2317879"/>
            <a:ext cx="843358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EEBA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                                                                                 REGISTRATION NO.</a:t>
            </a:r>
          </a:p>
          <a:p>
            <a:endParaRPr lang="en-US" sz="2000" dirty="0">
              <a:solidFill>
                <a:srgbClr val="EEBA2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Noraiz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Khan                                                                             2025-CS-282</a:t>
            </a:r>
          </a:p>
          <a:p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Mirza Amjad Ali </a:t>
            </a:r>
            <a:r>
              <a:rPr lang="en-US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Baig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2025-CS-267</a:t>
            </a:r>
          </a:p>
          <a:p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Muhammad Ali Munir                                                             2025-CS-270                                                                         </a:t>
            </a:r>
          </a:p>
          <a:p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Zaman Abbas                                                                           2025-CS-285</a:t>
            </a:r>
          </a:p>
          <a:p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M. Haseeb                                                                                2025-CS-276</a:t>
            </a:r>
          </a:p>
          <a:p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Instructor Name :   Prof. </a:t>
            </a:r>
            <a:r>
              <a:rPr lang="en-US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Ramsha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Khalid</a:t>
            </a:r>
          </a:p>
        </p:txBody>
      </p:sp>
    </p:spTree>
    <p:extLst>
      <p:ext uri="{BB962C8B-B14F-4D97-AF65-F5344CB8AC3E}">
        <p14:creationId xmlns:p14="http://schemas.microsoft.com/office/powerpoint/2010/main" val="2968015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07102E2-3286-4CCD-B070-30E2040679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25C42EE-F160-40F0-8745-E5B33D91A1C8}"/>
              </a:ext>
            </a:extLst>
          </p:cNvPr>
          <p:cNvSpPr/>
          <p:nvPr/>
        </p:nvSpPr>
        <p:spPr>
          <a:xfrm>
            <a:off x="3235570" y="1406769"/>
            <a:ext cx="5416062" cy="4600136"/>
          </a:xfrm>
          <a:prstGeom prst="rect">
            <a:avLst/>
          </a:prstGeom>
          <a:blipFill>
            <a:blip r:embed="rId3">
              <a:alphaModFix amt="15000"/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64A9744-6013-4CF3-86D9-6F46F3B8AD33}"/>
              </a:ext>
            </a:extLst>
          </p:cNvPr>
          <p:cNvSpPr txBox="1"/>
          <p:nvPr/>
        </p:nvSpPr>
        <p:spPr>
          <a:xfrm>
            <a:off x="3235570" y="740805"/>
            <a:ext cx="46704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i="1" u="sng" dirty="0">
                <a:solidFill>
                  <a:srgbClr val="EEBA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Executive Summary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E51021-C0BD-4D33-AA41-07C0203487FC}"/>
              </a:ext>
            </a:extLst>
          </p:cNvPr>
          <p:cNvSpPr txBox="1"/>
          <p:nvPr/>
        </p:nvSpPr>
        <p:spPr>
          <a:xfrm>
            <a:off x="640080" y="1945843"/>
            <a:ext cx="9875520" cy="39039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Developed a fully responsive static website using only HTML5 &amp; CSS3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Designed to provide a simple, fast, and user-friendly online food ordering experience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Website includes Home, Menu, Cart, Gallery, Login, About, and Contact us pages.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goals are to get the restaurant more visible online, build a strong brand image, and lay the groundwork for future website enhancements</a:t>
            </a:r>
          </a:p>
        </p:txBody>
      </p:sp>
    </p:spTree>
    <p:extLst>
      <p:ext uri="{BB962C8B-B14F-4D97-AF65-F5344CB8AC3E}">
        <p14:creationId xmlns:p14="http://schemas.microsoft.com/office/powerpoint/2010/main" val="3611573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07102E2-3286-4CCD-B070-30E2040679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25C42EE-F160-40F0-8745-E5B33D91A1C8}"/>
              </a:ext>
            </a:extLst>
          </p:cNvPr>
          <p:cNvSpPr/>
          <p:nvPr/>
        </p:nvSpPr>
        <p:spPr>
          <a:xfrm>
            <a:off x="3235570" y="1406769"/>
            <a:ext cx="5416062" cy="4600136"/>
          </a:xfrm>
          <a:prstGeom prst="rect">
            <a:avLst/>
          </a:prstGeom>
          <a:blipFill>
            <a:blip r:embed="rId3">
              <a:alphaModFix amt="15000"/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B4918D1-2AA0-4765-B25F-1869C336CB54}"/>
              </a:ext>
            </a:extLst>
          </p:cNvPr>
          <p:cNvSpPr txBox="1"/>
          <p:nvPr/>
        </p:nvSpPr>
        <p:spPr>
          <a:xfrm>
            <a:off x="4754881" y="1321434"/>
            <a:ext cx="23774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i="1" u="sng" dirty="0">
                <a:solidFill>
                  <a:srgbClr val="EEBA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US" i="1" u="sng" dirty="0">
              <a:solidFill>
                <a:srgbClr val="EEBA2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3D308F-C5A3-49F4-93CC-7B98A94ABA32}"/>
              </a:ext>
            </a:extLst>
          </p:cNvPr>
          <p:cNvSpPr txBox="1"/>
          <p:nvPr/>
        </p:nvSpPr>
        <p:spPr>
          <a:xfrm>
            <a:off x="2149454" y="2308858"/>
            <a:ext cx="7287065" cy="2795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Provide online ordering experience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Show menu with prices &amp; images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Save customer time by online order placement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Simple navigation &amp; responsive design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Build strong brand presence online</a:t>
            </a:r>
          </a:p>
        </p:txBody>
      </p:sp>
    </p:spTree>
    <p:extLst>
      <p:ext uri="{BB962C8B-B14F-4D97-AF65-F5344CB8AC3E}">
        <p14:creationId xmlns:p14="http://schemas.microsoft.com/office/powerpoint/2010/main" val="1250635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07102E2-3286-4CCD-B070-30E2040679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25C42EE-F160-40F0-8745-E5B33D91A1C8}"/>
              </a:ext>
            </a:extLst>
          </p:cNvPr>
          <p:cNvSpPr/>
          <p:nvPr/>
        </p:nvSpPr>
        <p:spPr>
          <a:xfrm>
            <a:off x="3235570" y="1406769"/>
            <a:ext cx="5416062" cy="4600136"/>
          </a:xfrm>
          <a:prstGeom prst="rect">
            <a:avLst/>
          </a:prstGeom>
          <a:blipFill>
            <a:blip r:embed="rId3">
              <a:alphaModFix amt="15000"/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B4918D1-2AA0-4765-B25F-1869C336CB54}"/>
              </a:ext>
            </a:extLst>
          </p:cNvPr>
          <p:cNvSpPr txBox="1"/>
          <p:nvPr/>
        </p:nvSpPr>
        <p:spPr>
          <a:xfrm>
            <a:off x="4165140" y="698883"/>
            <a:ext cx="30808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i="1" u="sng" dirty="0">
                <a:solidFill>
                  <a:srgbClr val="EEBA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Scope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E53323-A40A-4546-A419-E9033BC902DB}"/>
              </a:ext>
            </a:extLst>
          </p:cNvPr>
          <p:cNvSpPr txBox="1"/>
          <p:nvPr/>
        </p:nvSpPr>
        <p:spPr>
          <a:xfrm>
            <a:off x="824753" y="1701165"/>
            <a:ext cx="10883153" cy="44579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	A responsive website layout designed using HTML5 and external CSS.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	Home page displaying restaurant highlights.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	Menu page showing food items with images, names, descriptions, and prices.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	About page describing the restaurant and its services.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	Gallery section displaying food images.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	Contact page with a static contact form.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7.	Navigation bar for easy movement between pages.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8.	Use of CSS Flexbox or Grid for page layout</a:t>
            </a:r>
          </a:p>
        </p:txBody>
      </p:sp>
    </p:spTree>
    <p:extLst>
      <p:ext uri="{BB962C8B-B14F-4D97-AF65-F5344CB8AC3E}">
        <p14:creationId xmlns:p14="http://schemas.microsoft.com/office/powerpoint/2010/main" val="1638391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07102E2-3286-4CCD-B070-30E2040679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effectLst>
            <a:glow rad="101600">
              <a:schemeClr val="accent4">
                <a:satMod val="175000"/>
                <a:alpha val="40000"/>
              </a:schemeClr>
            </a:glow>
          </a:effec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25C42EE-F160-40F0-8745-E5B33D91A1C8}"/>
              </a:ext>
            </a:extLst>
          </p:cNvPr>
          <p:cNvSpPr/>
          <p:nvPr/>
        </p:nvSpPr>
        <p:spPr>
          <a:xfrm>
            <a:off x="3235570" y="1406769"/>
            <a:ext cx="5416062" cy="4600136"/>
          </a:xfrm>
          <a:prstGeom prst="rect">
            <a:avLst/>
          </a:prstGeom>
          <a:blipFill>
            <a:blip r:embed="rId3">
              <a:alphaModFix amt="15000"/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B4918D1-2AA0-4765-B25F-1869C336CB54}"/>
              </a:ext>
            </a:extLst>
          </p:cNvPr>
          <p:cNvSpPr txBox="1"/>
          <p:nvPr/>
        </p:nvSpPr>
        <p:spPr>
          <a:xfrm>
            <a:off x="4318783" y="399944"/>
            <a:ext cx="32496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i="1" u="sng" dirty="0">
                <a:solidFill>
                  <a:srgbClr val="EEBA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Site Structure</a:t>
            </a:r>
            <a:endParaRPr lang="en-US" i="1" u="sng" dirty="0">
              <a:solidFill>
                <a:srgbClr val="EEBA2B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C9D32B-256A-4666-90AC-0CE49AD31276}"/>
              </a:ext>
            </a:extLst>
          </p:cNvPr>
          <p:cNvSpPr txBox="1"/>
          <p:nvPr/>
        </p:nvSpPr>
        <p:spPr>
          <a:xfrm>
            <a:off x="1069143" y="1082226"/>
            <a:ext cx="93972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 main pages with navigation bar providing best &amp; user friendly experience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68670B-2DFA-403A-BB46-219F44E5C0AF}"/>
              </a:ext>
            </a:extLst>
          </p:cNvPr>
          <p:cNvSpPr txBox="1"/>
          <p:nvPr/>
        </p:nvSpPr>
        <p:spPr>
          <a:xfrm>
            <a:off x="1069143" y="1645660"/>
            <a:ext cx="2194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Home Page: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F5720E9-257F-433A-BF77-3308B2C7D38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1439"/>
          <a:stretch/>
        </p:blipFill>
        <p:spPr>
          <a:xfrm>
            <a:off x="1188717" y="2167543"/>
            <a:ext cx="7983418" cy="3473602"/>
          </a:xfrm>
          <a:prstGeom prst="rect">
            <a:avLst/>
          </a:prstGeom>
          <a:effectLst>
            <a:glow rad="101600">
              <a:srgbClr val="EEBA1B">
                <a:alpha val="40000"/>
              </a:srgbClr>
            </a:glo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9E79EF7-B192-4832-8615-6D39DD86A15B}"/>
              </a:ext>
            </a:extLst>
          </p:cNvPr>
          <p:cNvSpPr txBox="1"/>
          <p:nvPr/>
        </p:nvSpPr>
        <p:spPr>
          <a:xfrm>
            <a:off x="9965513" y="2714171"/>
            <a:ext cx="146594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will be the User’s first impression </a:t>
            </a:r>
          </a:p>
        </p:txBody>
      </p:sp>
    </p:spTree>
    <p:extLst>
      <p:ext uri="{BB962C8B-B14F-4D97-AF65-F5344CB8AC3E}">
        <p14:creationId xmlns:p14="http://schemas.microsoft.com/office/powerpoint/2010/main" val="1251889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07102E2-3286-4CCD-B070-30E2040679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effectLst>
            <a:glow rad="101600">
              <a:schemeClr val="accent4">
                <a:satMod val="175000"/>
                <a:alpha val="40000"/>
              </a:schemeClr>
            </a:glow>
          </a:effec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25C42EE-F160-40F0-8745-E5B33D91A1C8}"/>
              </a:ext>
            </a:extLst>
          </p:cNvPr>
          <p:cNvSpPr/>
          <p:nvPr/>
        </p:nvSpPr>
        <p:spPr>
          <a:xfrm>
            <a:off x="3235570" y="1406769"/>
            <a:ext cx="5416062" cy="4600136"/>
          </a:xfrm>
          <a:prstGeom prst="rect">
            <a:avLst/>
          </a:prstGeom>
          <a:blipFill>
            <a:blip r:embed="rId3">
              <a:alphaModFix amt="15000"/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B4918D1-2AA0-4765-B25F-1869C336CB54}"/>
              </a:ext>
            </a:extLst>
          </p:cNvPr>
          <p:cNvSpPr txBox="1"/>
          <p:nvPr/>
        </p:nvSpPr>
        <p:spPr>
          <a:xfrm>
            <a:off x="4318783" y="399944"/>
            <a:ext cx="32496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i="1" u="sng" dirty="0">
                <a:solidFill>
                  <a:srgbClr val="EEBA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Site Structure</a:t>
            </a:r>
            <a:endParaRPr lang="en-US" i="1" u="sng" dirty="0">
              <a:solidFill>
                <a:srgbClr val="EEBA2B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68670B-2DFA-403A-BB46-219F44E5C0AF}"/>
              </a:ext>
            </a:extLst>
          </p:cNvPr>
          <p:cNvSpPr txBox="1"/>
          <p:nvPr/>
        </p:nvSpPr>
        <p:spPr>
          <a:xfrm>
            <a:off x="1069143" y="1645660"/>
            <a:ext cx="2194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Login Page: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F5720E9-257F-433A-BF77-3308B2C7D38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0" r="1530"/>
          <a:stretch/>
        </p:blipFill>
        <p:spPr>
          <a:xfrm>
            <a:off x="1188717" y="2167543"/>
            <a:ext cx="7983418" cy="3473602"/>
          </a:xfrm>
          <a:prstGeom prst="rect">
            <a:avLst/>
          </a:prstGeom>
          <a:effectLst>
            <a:glow rad="101600">
              <a:srgbClr val="EEBA1B">
                <a:alpha val="40000"/>
              </a:srgbClr>
            </a:glo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3F04F62-6434-448E-A96F-363D69A45A8E}"/>
              </a:ext>
            </a:extLst>
          </p:cNvPr>
          <p:cNvSpPr txBox="1"/>
          <p:nvPr/>
        </p:nvSpPr>
        <p:spPr>
          <a:xfrm>
            <a:off x="9744895" y="3265544"/>
            <a:ext cx="1640115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Can place order after successful login</a:t>
            </a:r>
          </a:p>
        </p:txBody>
      </p:sp>
    </p:spTree>
    <p:extLst>
      <p:ext uri="{BB962C8B-B14F-4D97-AF65-F5344CB8AC3E}">
        <p14:creationId xmlns:p14="http://schemas.microsoft.com/office/powerpoint/2010/main" val="1919554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07102E2-3286-4CCD-B070-30E2040679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effectLst>
            <a:glow rad="101600">
              <a:schemeClr val="accent4">
                <a:satMod val="175000"/>
                <a:alpha val="40000"/>
              </a:schemeClr>
            </a:glow>
          </a:effec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25C42EE-F160-40F0-8745-E5B33D91A1C8}"/>
              </a:ext>
            </a:extLst>
          </p:cNvPr>
          <p:cNvSpPr/>
          <p:nvPr/>
        </p:nvSpPr>
        <p:spPr>
          <a:xfrm>
            <a:off x="3235570" y="1406769"/>
            <a:ext cx="5416062" cy="4600136"/>
          </a:xfrm>
          <a:prstGeom prst="rect">
            <a:avLst/>
          </a:prstGeom>
          <a:blipFill>
            <a:blip r:embed="rId3">
              <a:alphaModFix amt="15000"/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B4918D1-2AA0-4765-B25F-1869C336CB54}"/>
              </a:ext>
            </a:extLst>
          </p:cNvPr>
          <p:cNvSpPr txBox="1"/>
          <p:nvPr/>
        </p:nvSpPr>
        <p:spPr>
          <a:xfrm>
            <a:off x="4318783" y="399944"/>
            <a:ext cx="32496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i="1" u="sng" dirty="0">
                <a:solidFill>
                  <a:srgbClr val="EEBA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Site Structure</a:t>
            </a:r>
            <a:endParaRPr lang="en-US" i="1" u="sng" dirty="0">
              <a:solidFill>
                <a:srgbClr val="EEBA2B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68670B-2DFA-403A-BB46-219F44E5C0AF}"/>
              </a:ext>
            </a:extLst>
          </p:cNvPr>
          <p:cNvSpPr txBox="1"/>
          <p:nvPr/>
        </p:nvSpPr>
        <p:spPr>
          <a:xfrm>
            <a:off x="1069143" y="1645660"/>
            <a:ext cx="2194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Menu Page: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F5720E9-257F-433A-BF77-3308B2C7D38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8" r="968"/>
          <a:stretch/>
        </p:blipFill>
        <p:spPr>
          <a:xfrm>
            <a:off x="1188717" y="2167543"/>
            <a:ext cx="7983418" cy="3473602"/>
          </a:xfrm>
          <a:prstGeom prst="rect">
            <a:avLst/>
          </a:prstGeom>
          <a:effectLst>
            <a:glow rad="101600">
              <a:srgbClr val="EEBA1B">
                <a:alpha val="40000"/>
              </a:srgbClr>
            </a:glo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01E3B8F-CF8E-4535-8937-F62367391B3C}"/>
              </a:ext>
            </a:extLst>
          </p:cNvPr>
          <p:cNvSpPr txBox="1"/>
          <p:nvPr/>
        </p:nvSpPr>
        <p:spPr>
          <a:xfrm>
            <a:off x="9805182" y="2799471"/>
            <a:ext cx="174439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can see </a:t>
            </a:r>
            <a:r>
              <a:rPr lang="en-US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menu items from this page</a:t>
            </a:r>
          </a:p>
        </p:txBody>
      </p:sp>
    </p:spTree>
    <p:extLst>
      <p:ext uri="{BB962C8B-B14F-4D97-AF65-F5344CB8AC3E}">
        <p14:creationId xmlns:p14="http://schemas.microsoft.com/office/powerpoint/2010/main" val="2455919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07102E2-3286-4CCD-B070-30E2040679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effectLst>
            <a:glow rad="101600">
              <a:schemeClr val="accent4">
                <a:satMod val="175000"/>
                <a:alpha val="40000"/>
              </a:schemeClr>
            </a:glow>
          </a:effec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25C42EE-F160-40F0-8745-E5B33D91A1C8}"/>
              </a:ext>
            </a:extLst>
          </p:cNvPr>
          <p:cNvSpPr/>
          <p:nvPr/>
        </p:nvSpPr>
        <p:spPr>
          <a:xfrm>
            <a:off x="3235570" y="1406769"/>
            <a:ext cx="5416062" cy="4600136"/>
          </a:xfrm>
          <a:prstGeom prst="rect">
            <a:avLst/>
          </a:prstGeom>
          <a:blipFill>
            <a:blip r:embed="rId3">
              <a:alphaModFix amt="15000"/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B4918D1-2AA0-4765-B25F-1869C336CB54}"/>
              </a:ext>
            </a:extLst>
          </p:cNvPr>
          <p:cNvSpPr txBox="1"/>
          <p:nvPr/>
        </p:nvSpPr>
        <p:spPr>
          <a:xfrm>
            <a:off x="4318783" y="399944"/>
            <a:ext cx="32496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i="1" u="sng" dirty="0">
                <a:solidFill>
                  <a:srgbClr val="EEBA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Site Structure</a:t>
            </a:r>
            <a:endParaRPr lang="en-US" i="1" u="sng" dirty="0">
              <a:solidFill>
                <a:srgbClr val="EEBA2B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68670B-2DFA-403A-BB46-219F44E5C0AF}"/>
              </a:ext>
            </a:extLst>
          </p:cNvPr>
          <p:cNvSpPr txBox="1"/>
          <p:nvPr/>
        </p:nvSpPr>
        <p:spPr>
          <a:xfrm>
            <a:off x="1069143" y="1645660"/>
            <a:ext cx="2194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Cart Page: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A84EC05-E07B-4156-AA27-CE644262E23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825"/>
          <a:stretch/>
        </p:blipFill>
        <p:spPr>
          <a:xfrm>
            <a:off x="1218673" y="2259308"/>
            <a:ext cx="7809214" cy="3191923"/>
          </a:xfrm>
          <a:prstGeom prst="rect">
            <a:avLst/>
          </a:prstGeom>
          <a:effectLst>
            <a:glow rad="101600">
              <a:srgbClr val="EEBA1B">
                <a:alpha val="40000"/>
              </a:srgbClr>
            </a:glo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689F3BA-4BF3-47BF-8ADE-17E86A955500}"/>
              </a:ext>
            </a:extLst>
          </p:cNvPr>
          <p:cNvSpPr txBox="1"/>
          <p:nvPr/>
        </p:nvSpPr>
        <p:spPr>
          <a:xfrm>
            <a:off x="9889588" y="2700997"/>
            <a:ext cx="174439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page is dedicated to place an order</a:t>
            </a:r>
          </a:p>
        </p:txBody>
      </p:sp>
    </p:spTree>
    <p:extLst>
      <p:ext uri="{BB962C8B-B14F-4D97-AF65-F5344CB8AC3E}">
        <p14:creationId xmlns:p14="http://schemas.microsoft.com/office/powerpoint/2010/main" val="2299620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07102E2-3286-4CCD-B070-30E2040679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effectLst>
            <a:glow rad="101600">
              <a:schemeClr val="accent4">
                <a:satMod val="175000"/>
                <a:alpha val="40000"/>
              </a:schemeClr>
            </a:glow>
          </a:effec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25C42EE-F160-40F0-8745-E5B33D91A1C8}"/>
              </a:ext>
            </a:extLst>
          </p:cNvPr>
          <p:cNvSpPr/>
          <p:nvPr/>
        </p:nvSpPr>
        <p:spPr>
          <a:xfrm>
            <a:off x="3235570" y="1406769"/>
            <a:ext cx="5416062" cy="4600136"/>
          </a:xfrm>
          <a:prstGeom prst="rect">
            <a:avLst/>
          </a:prstGeom>
          <a:blipFill>
            <a:blip r:embed="rId3">
              <a:alphaModFix amt="15000"/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B4918D1-2AA0-4765-B25F-1869C336CB54}"/>
              </a:ext>
            </a:extLst>
          </p:cNvPr>
          <p:cNvSpPr txBox="1"/>
          <p:nvPr/>
        </p:nvSpPr>
        <p:spPr>
          <a:xfrm>
            <a:off x="4318783" y="399944"/>
            <a:ext cx="32496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i="1" u="sng" dirty="0">
                <a:solidFill>
                  <a:srgbClr val="EEBA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Site Structure</a:t>
            </a:r>
            <a:endParaRPr lang="en-US" i="1" u="sng" dirty="0">
              <a:solidFill>
                <a:srgbClr val="EEBA2B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68670B-2DFA-403A-BB46-219F44E5C0AF}"/>
              </a:ext>
            </a:extLst>
          </p:cNvPr>
          <p:cNvSpPr txBox="1"/>
          <p:nvPr/>
        </p:nvSpPr>
        <p:spPr>
          <a:xfrm>
            <a:off x="1069143" y="1645660"/>
            <a:ext cx="2194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Gallary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Page: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F5720E9-257F-433A-BF77-3308B2C7D38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8" t="10595" r="888"/>
          <a:stretch/>
        </p:blipFill>
        <p:spPr>
          <a:xfrm>
            <a:off x="1069143" y="2209094"/>
            <a:ext cx="8495771" cy="3679727"/>
          </a:xfrm>
          <a:prstGeom prst="rect">
            <a:avLst/>
          </a:prstGeom>
          <a:effectLst>
            <a:glow rad="101600">
              <a:srgbClr val="EEBA1B">
                <a:alpha val="40000"/>
              </a:srgbClr>
            </a:glo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A4DEC9E-A445-4F63-8436-EB20A6F58705}"/>
              </a:ext>
            </a:extLst>
          </p:cNvPr>
          <p:cNvSpPr txBox="1"/>
          <p:nvPr/>
        </p:nvSpPr>
        <p:spPr>
          <a:xfrm>
            <a:off x="10170942" y="2532185"/>
            <a:ext cx="156039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have uploaded the pictures of our delicious food in this page</a:t>
            </a:r>
          </a:p>
        </p:txBody>
      </p:sp>
    </p:spTree>
    <p:extLst>
      <p:ext uri="{BB962C8B-B14F-4D97-AF65-F5344CB8AC3E}">
        <p14:creationId xmlns:p14="http://schemas.microsoft.com/office/powerpoint/2010/main" val="394182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07102E2-3286-4CCD-B070-30E2040679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effectLst>
            <a:glow rad="101600">
              <a:schemeClr val="accent4">
                <a:satMod val="175000"/>
                <a:alpha val="40000"/>
              </a:schemeClr>
            </a:glow>
          </a:effec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25C42EE-F160-40F0-8745-E5B33D91A1C8}"/>
              </a:ext>
            </a:extLst>
          </p:cNvPr>
          <p:cNvSpPr/>
          <p:nvPr/>
        </p:nvSpPr>
        <p:spPr>
          <a:xfrm>
            <a:off x="3235570" y="1406769"/>
            <a:ext cx="5416062" cy="4600136"/>
          </a:xfrm>
          <a:prstGeom prst="rect">
            <a:avLst/>
          </a:prstGeom>
          <a:blipFill>
            <a:blip r:embed="rId3">
              <a:alphaModFix amt="15000"/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B4918D1-2AA0-4765-B25F-1869C336CB54}"/>
              </a:ext>
            </a:extLst>
          </p:cNvPr>
          <p:cNvSpPr txBox="1"/>
          <p:nvPr/>
        </p:nvSpPr>
        <p:spPr>
          <a:xfrm>
            <a:off x="4318783" y="399944"/>
            <a:ext cx="32496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i="1" u="sng" dirty="0">
                <a:solidFill>
                  <a:srgbClr val="EEBA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Site Structure</a:t>
            </a:r>
            <a:endParaRPr lang="en-US" i="1" u="sng" dirty="0">
              <a:solidFill>
                <a:srgbClr val="EEBA2B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68670B-2DFA-403A-BB46-219F44E5C0AF}"/>
              </a:ext>
            </a:extLst>
          </p:cNvPr>
          <p:cNvSpPr txBox="1"/>
          <p:nvPr/>
        </p:nvSpPr>
        <p:spPr>
          <a:xfrm>
            <a:off x="1069143" y="1645660"/>
            <a:ext cx="2194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Page: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F5720E9-257F-433A-BF77-3308B2C7D38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34" r="2734"/>
          <a:stretch/>
        </p:blipFill>
        <p:spPr>
          <a:xfrm>
            <a:off x="1188717" y="2167543"/>
            <a:ext cx="7983418" cy="3473602"/>
          </a:xfrm>
          <a:prstGeom prst="rect">
            <a:avLst/>
          </a:prstGeom>
          <a:effectLst>
            <a:glow rad="101600">
              <a:srgbClr val="EEBA1B">
                <a:alpha val="40000"/>
              </a:srgbClr>
            </a:glo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60565EC-BB60-4CBB-BB07-C704995C129F}"/>
              </a:ext>
            </a:extLst>
          </p:cNvPr>
          <p:cNvSpPr txBox="1"/>
          <p:nvPr/>
        </p:nvSpPr>
        <p:spPr>
          <a:xfrm>
            <a:off x="9762978" y="2518117"/>
            <a:ext cx="175846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page is dedicated to describe the services &amp; values of our restaurant</a:t>
            </a:r>
          </a:p>
        </p:txBody>
      </p:sp>
    </p:spTree>
    <p:extLst>
      <p:ext uri="{BB962C8B-B14F-4D97-AF65-F5344CB8AC3E}">
        <p14:creationId xmlns:p14="http://schemas.microsoft.com/office/powerpoint/2010/main" val="410168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07102E2-3286-4CCD-B070-30E2040679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effectLst>
            <a:glow rad="101600">
              <a:schemeClr val="accent4">
                <a:satMod val="175000"/>
                <a:alpha val="40000"/>
              </a:schemeClr>
            </a:glow>
          </a:effec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25C42EE-F160-40F0-8745-E5B33D91A1C8}"/>
              </a:ext>
            </a:extLst>
          </p:cNvPr>
          <p:cNvSpPr/>
          <p:nvPr/>
        </p:nvSpPr>
        <p:spPr>
          <a:xfrm>
            <a:off x="3235570" y="1406769"/>
            <a:ext cx="5416062" cy="4600136"/>
          </a:xfrm>
          <a:prstGeom prst="rect">
            <a:avLst/>
          </a:prstGeom>
          <a:blipFill>
            <a:blip r:embed="rId3">
              <a:alphaModFix amt="15000"/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B4918D1-2AA0-4765-B25F-1869C336CB54}"/>
              </a:ext>
            </a:extLst>
          </p:cNvPr>
          <p:cNvSpPr txBox="1"/>
          <p:nvPr/>
        </p:nvSpPr>
        <p:spPr>
          <a:xfrm>
            <a:off x="4318783" y="399944"/>
            <a:ext cx="32496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i="1" u="sng" dirty="0">
                <a:solidFill>
                  <a:srgbClr val="EEBA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Site Structure</a:t>
            </a:r>
            <a:endParaRPr lang="en-US" i="1" u="sng" dirty="0">
              <a:solidFill>
                <a:srgbClr val="EEBA2B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68670B-2DFA-403A-BB46-219F44E5C0AF}"/>
              </a:ext>
            </a:extLst>
          </p:cNvPr>
          <p:cNvSpPr txBox="1"/>
          <p:nvPr/>
        </p:nvSpPr>
        <p:spPr>
          <a:xfrm>
            <a:off x="1069143" y="1645660"/>
            <a:ext cx="2194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Contact Page: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F5720E9-257F-433A-BF77-3308B2C7D38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0" r="1530"/>
          <a:stretch/>
        </p:blipFill>
        <p:spPr>
          <a:xfrm>
            <a:off x="1188717" y="2167543"/>
            <a:ext cx="7983418" cy="3473602"/>
          </a:xfrm>
          <a:prstGeom prst="rect">
            <a:avLst/>
          </a:prstGeom>
          <a:effectLst>
            <a:glow rad="101600">
              <a:srgbClr val="EEBA1B">
                <a:alpha val="40000"/>
              </a:srgbClr>
            </a:glo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CB0D693-2ADF-43EB-9EA8-A7600088FB74}"/>
              </a:ext>
            </a:extLst>
          </p:cNvPr>
          <p:cNvSpPr txBox="1"/>
          <p:nvPr/>
        </p:nvSpPr>
        <p:spPr>
          <a:xfrm>
            <a:off x="9448807" y="3242624"/>
            <a:ext cx="173032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this page user can easily get our contact details.</a:t>
            </a:r>
          </a:p>
        </p:txBody>
      </p:sp>
    </p:spTree>
    <p:extLst>
      <p:ext uri="{BB962C8B-B14F-4D97-AF65-F5344CB8AC3E}">
        <p14:creationId xmlns:p14="http://schemas.microsoft.com/office/powerpoint/2010/main" val="392606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07102E2-3286-4CCD-B070-30E2040679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25C42EE-F160-40F0-8745-E5B33D91A1C8}"/>
              </a:ext>
            </a:extLst>
          </p:cNvPr>
          <p:cNvSpPr/>
          <p:nvPr/>
        </p:nvSpPr>
        <p:spPr>
          <a:xfrm>
            <a:off x="3235570" y="1406769"/>
            <a:ext cx="5416062" cy="4600136"/>
          </a:xfrm>
          <a:prstGeom prst="rect">
            <a:avLst/>
          </a:prstGeom>
          <a:blipFill>
            <a:blip r:embed="rId3">
              <a:alphaModFix amt="15000"/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B4918D1-2AA0-4765-B25F-1869C336CB54}"/>
              </a:ext>
            </a:extLst>
          </p:cNvPr>
          <p:cNvSpPr txBox="1"/>
          <p:nvPr/>
        </p:nvSpPr>
        <p:spPr>
          <a:xfrm>
            <a:off x="3910821" y="621511"/>
            <a:ext cx="38592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i="1" u="sng" dirty="0">
                <a:solidFill>
                  <a:srgbClr val="EEBA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 Decisions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A5F098-56A1-46C6-AFB8-B267B43798DC}"/>
              </a:ext>
            </a:extLst>
          </p:cNvPr>
          <p:cNvSpPr txBox="1"/>
          <p:nvPr/>
        </p:nvSpPr>
        <p:spPr>
          <a:xfrm>
            <a:off x="1819144" y="2031021"/>
            <a:ext cx="7522079" cy="2795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Simple clean and user friendly  user interface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Readable fonts &amp; consistent styling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Dark background and light readable text, Orange as attention color.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Focus on responsiveness &amp; simplicity</a:t>
            </a:r>
          </a:p>
        </p:txBody>
      </p:sp>
    </p:spTree>
    <p:extLst>
      <p:ext uri="{BB962C8B-B14F-4D97-AF65-F5344CB8AC3E}">
        <p14:creationId xmlns:p14="http://schemas.microsoft.com/office/powerpoint/2010/main" val="932912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07102E2-3286-4CCD-B070-30E2040679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25C42EE-F160-40F0-8745-E5B33D91A1C8}"/>
              </a:ext>
            </a:extLst>
          </p:cNvPr>
          <p:cNvSpPr/>
          <p:nvPr/>
        </p:nvSpPr>
        <p:spPr>
          <a:xfrm>
            <a:off x="3235570" y="1406769"/>
            <a:ext cx="5416062" cy="4600136"/>
          </a:xfrm>
          <a:prstGeom prst="rect">
            <a:avLst/>
          </a:prstGeom>
          <a:blipFill>
            <a:blip r:embed="rId3">
              <a:alphaModFix amt="15000"/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B4918D1-2AA0-4765-B25F-1869C336CB54}"/>
              </a:ext>
            </a:extLst>
          </p:cNvPr>
          <p:cNvSpPr txBox="1"/>
          <p:nvPr/>
        </p:nvSpPr>
        <p:spPr>
          <a:xfrm>
            <a:off x="3556783" y="555674"/>
            <a:ext cx="46142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i="1" u="sng" dirty="0">
                <a:solidFill>
                  <a:srgbClr val="EEBA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Assets &amp; Technology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EE4B59-2A27-469D-943B-77A7C5568006}"/>
              </a:ext>
            </a:extLst>
          </p:cNvPr>
          <p:cNvSpPr txBox="1"/>
          <p:nvPr/>
        </p:nvSpPr>
        <p:spPr>
          <a:xfrm>
            <a:off x="1301262" y="1406769"/>
            <a:ext cx="6949440" cy="39039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HTML5 + CSS3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Images from </a:t>
            </a:r>
            <a:r>
              <a:rPr lang="en-US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Pexels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Unsplash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Logo &amp; Header made from Canva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Fictional Data (No database)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Menu Brochure was made from Canva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Video was also made using video editing tools like </a:t>
            </a:r>
            <a:r>
              <a:rPr lang="en-US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canva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filmora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spring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11722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07102E2-3286-4CCD-B070-30E2040679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25C42EE-F160-40F0-8745-E5B33D91A1C8}"/>
              </a:ext>
            </a:extLst>
          </p:cNvPr>
          <p:cNvSpPr/>
          <p:nvPr/>
        </p:nvSpPr>
        <p:spPr>
          <a:xfrm>
            <a:off x="3235570" y="1406769"/>
            <a:ext cx="5416062" cy="4600136"/>
          </a:xfrm>
          <a:prstGeom prst="rect">
            <a:avLst/>
          </a:prstGeom>
          <a:blipFill>
            <a:blip r:embed="rId3">
              <a:alphaModFix amt="15000"/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B4918D1-2AA0-4765-B25F-1869C336CB54}"/>
              </a:ext>
            </a:extLst>
          </p:cNvPr>
          <p:cNvSpPr txBox="1"/>
          <p:nvPr/>
        </p:nvSpPr>
        <p:spPr>
          <a:xfrm>
            <a:off x="3995225" y="286664"/>
            <a:ext cx="36013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EEBA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Excel Key Data: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2CCD69-0C09-4EB4-955D-77E91537F4AA}"/>
              </a:ext>
            </a:extLst>
          </p:cNvPr>
          <p:cNvSpPr txBox="1"/>
          <p:nvPr/>
        </p:nvSpPr>
        <p:spPr>
          <a:xfrm>
            <a:off x="1434904" y="860171"/>
            <a:ext cx="20538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 Profit:</a:t>
            </a:r>
          </a:p>
        </p:txBody>
      </p:sp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6BA0C52C-DE0D-4622-92F0-F996BD3CAEA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66518629"/>
              </p:ext>
            </p:extLst>
          </p:nvPr>
        </p:nvGraphicFramePr>
        <p:xfrm>
          <a:off x="1248120" y="1406769"/>
          <a:ext cx="7804442" cy="50575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37A64080-6FFD-45C4-AD2A-ED4601BDA5A3}"/>
              </a:ext>
            </a:extLst>
          </p:cNvPr>
          <p:cNvSpPr txBox="1"/>
          <p:nvPr/>
        </p:nvSpPr>
        <p:spPr>
          <a:xfrm>
            <a:off x="9453492" y="1879525"/>
            <a:ext cx="1997612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graph is showing the profit that we are earning from each item of our menu.</a:t>
            </a:r>
          </a:p>
          <a:p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most profitable item is Chocolate cake </a:t>
            </a:r>
          </a:p>
        </p:txBody>
      </p:sp>
    </p:spTree>
    <p:extLst>
      <p:ext uri="{BB962C8B-B14F-4D97-AF65-F5344CB8AC3E}">
        <p14:creationId xmlns:p14="http://schemas.microsoft.com/office/powerpoint/2010/main" val="3486984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Graphic spid="11" grpId="0">
        <p:bldAsOne/>
      </p:bldGraphic>
      <p:bldP spid="1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07102E2-3286-4CCD-B070-30E2040679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25C42EE-F160-40F0-8745-E5B33D91A1C8}"/>
              </a:ext>
            </a:extLst>
          </p:cNvPr>
          <p:cNvSpPr/>
          <p:nvPr/>
        </p:nvSpPr>
        <p:spPr>
          <a:xfrm>
            <a:off x="3235570" y="1406769"/>
            <a:ext cx="5416062" cy="4600136"/>
          </a:xfrm>
          <a:prstGeom prst="rect">
            <a:avLst/>
          </a:prstGeom>
          <a:blipFill>
            <a:blip r:embed="rId3">
              <a:alphaModFix amt="15000"/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2CCD69-0C09-4EB4-955D-77E91537F4AA}"/>
              </a:ext>
            </a:extLst>
          </p:cNvPr>
          <p:cNvSpPr txBox="1"/>
          <p:nvPr/>
        </p:nvSpPr>
        <p:spPr>
          <a:xfrm>
            <a:off x="1889759" y="456269"/>
            <a:ext cx="47783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Selling Prices of different Products: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CB5CEEFE-95C4-4AC5-90DB-9E84779E547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42647743"/>
              </p:ext>
            </p:extLst>
          </p:nvPr>
        </p:nvGraphicFramePr>
        <p:xfrm>
          <a:off x="717451" y="1538198"/>
          <a:ext cx="10677379" cy="46001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E197FCF6-5DE4-4874-8F49-4DB2BEB72474}"/>
              </a:ext>
            </a:extLst>
          </p:cNvPr>
          <p:cNvSpPr txBox="1"/>
          <p:nvPr/>
        </p:nvSpPr>
        <p:spPr>
          <a:xfrm>
            <a:off x="1889759" y="962296"/>
            <a:ext cx="77090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Chart is giving the information about the selling price of each item.</a:t>
            </a:r>
          </a:p>
        </p:txBody>
      </p:sp>
    </p:spTree>
    <p:extLst>
      <p:ext uri="{BB962C8B-B14F-4D97-AF65-F5344CB8AC3E}">
        <p14:creationId xmlns:p14="http://schemas.microsoft.com/office/powerpoint/2010/main" val="3211841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Graphic spid="6" grpId="0">
        <p:bldAsOne/>
      </p:bldGraphic>
      <p:bldP spid="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07102E2-3286-4CCD-B070-30E2040679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25C42EE-F160-40F0-8745-E5B33D91A1C8}"/>
              </a:ext>
            </a:extLst>
          </p:cNvPr>
          <p:cNvSpPr/>
          <p:nvPr/>
        </p:nvSpPr>
        <p:spPr>
          <a:xfrm>
            <a:off x="3137096" y="1406769"/>
            <a:ext cx="5416062" cy="4600136"/>
          </a:xfrm>
          <a:prstGeom prst="rect">
            <a:avLst/>
          </a:prstGeom>
          <a:blipFill>
            <a:blip r:embed="rId3">
              <a:alphaModFix amt="15000"/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B4918D1-2AA0-4765-B25F-1869C336CB54}"/>
              </a:ext>
            </a:extLst>
          </p:cNvPr>
          <p:cNvSpPr txBox="1"/>
          <p:nvPr/>
        </p:nvSpPr>
        <p:spPr>
          <a:xfrm>
            <a:off x="2236764" y="1406769"/>
            <a:ext cx="7906042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can run/publish the website by many ways:</a:t>
            </a:r>
          </a:p>
          <a:p>
            <a:pPr marL="342900" indent="-342900">
              <a:buAutoNum type="arabicParenR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Publishing the website by simply opening the </a:t>
            </a:r>
            <a:r>
              <a:rPr lang="en-US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index.htlm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file in chrome or Microsoft edge</a:t>
            </a:r>
          </a:p>
          <a:p>
            <a:pPr marL="342900" indent="-342900">
              <a:buAutoNum type="arabicParenR"/>
            </a:pP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arenR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can also publish the website using </a:t>
            </a:r>
            <a:r>
              <a:rPr lang="en-US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creating the live URL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B943D0-6A8E-46FC-B84F-27D585093830}"/>
              </a:ext>
            </a:extLst>
          </p:cNvPr>
          <p:cNvSpPr txBox="1"/>
          <p:nvPr/>
        </p:nvSpPr>
        <p:spPr>
          <a:xfrm>
            <a:off x="2996420" y="666429"/>
            <a:ext cx="46001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i="1" u="sng" dirty="0">
                <a:solidFill>
                  <a:srgbClr val="EEBA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Publishing of website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62FF0C-7F52-4B18-8E62-BEA7AB4B8353}"/>
              </a:ext>
            </a:extLst>
          </p:cNvPr>
          <p:cNvSpPr txBox="1"/>
          <p:nvPr/>
        </p:nvSpPr>
        <p:spPr>
          <a:xfrm>
            <a:off x="2262554" y="4341616"/>
            <a:ext cx="76668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Live URL of our Website: </a:t>
            </a:r>
          </a:p>
          <a:p>
            <a:r>
              <a:rPr lang="en-US" sz="2400" dirty="0">
                <a:solidFill>
                  <a:schemeClr val="bg1"/>
                </a:solidFill>
                <a:cs typeface="Times New Roman" panose="02020603050405020304" pitchFamily="18" charset="0"/>
              </a:rPr>
              <a:t>https://malimunir29.github.io/Group-08-Online-Restaurant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1603626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07102E2-3286-4CCD-B070-30E2040679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25C42EE-F160-40F0-8745-E5B33D91A1C8}"/>
              </a:ext>
            </a:extLst>
          </p:cNvPr>
          <p:cNvSpPr/>
          <p:nvPr/>
        </p:nvSpPr>
        <p:spPr>
          <a:xfrm>
            <a:off x="3235570" y="1406769"/>
            <a:ext cx="5416062" cy="4600136"/>
          </a:xfrm>
          <a:prstGeom prst="rect">
            <a:avLst/>
          </a:prstGeom>
          <a:blipFill>
            <a:blip r:embed="rId3">
              <a:alphaModFix amt="15000"/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B4918D1-2AA0-4765-B25F-1869C336CB54}"/>
              </a:ext>
            </a:extLst>
          </p:cNvPr>
          <p:cNvSpPr txBox="1"/>
          <p:nvPr/>
        </p:nvSpPr>
        <p:spPr>
          <a:xfrm>
            <a:off x="2736167" y="497152"/>
            <a:ext cx="641486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i="1" dirty="0">
                <a:solidFill>
                  <a:srgbClr val="EEBA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Reflection &amp; Improvements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316302-ACC2-4A4F-A857-FFDE04D0C4D9}"/>
              </a:ext>
            </a:extLst>
          </p:cNvPr>
          <p:cNvSpPr txBox="1"/>
          <p:nvPr/>
        </p:nvSpPr>
        <p:spPr>
          <a:xfrm>
            <a:off x="1559169" y="1348899"/>
            <a:ext cx="752621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We Learned:</a:t>
            </a:r>
          </a:p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Creating website design</a:t>
            </a:r>
          </a:p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Responsive layouts</a:t>
            </a:r>
          </a:p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Interactive features &amp; animation</a:t>
            </a:r>
          </a:p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Usage of Different Video editing tools like Canva, </a:t>
            </a:r>
            <a:r>
              <a:rPr lang="en-US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Filmora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Spring</a:t>
            </a:r>
          </a:p>
          <a:p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Improvements:</a:t>
            </a:r>
          </a:p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Backend, database</a:t>
            </a:r>
          </a:p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 time ordering</a:t>
            </a:r>
          </a:p>
        </p:txBody>
      </p:sp>
    </p:spTree>
    <p:extLst>
      <p:ext uri="{BB962C8B-B14F-4D97-AF65-F5344CB8AC3E}">
        <p14:creationId xmlns:p14="http://schemas.microsoft.com/office/powerpoint/2010/main" val="1280525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07102E2-3286-4CCD-B070-30E2040679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0B22F8C-4B91-4AA5-9E91-D50EB24B1357}"/>
              </a:ext>
            </a:extLst>
          </p:cNvPr>
          <p:cNvSpPr txBox="1"/>
          <p:nvPr/>
        </p:nvSpPr>
        <p:spPr>
          <a:xfrm>
            <a:off x="3216674" y="555674"/>
            <a:ext cx="575865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solidFill>
                  <a:srgbClr val="EEBA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25C42EE-F160-40F0-8745-E5B33D91A1C8}"/>
              </a:ext>
            </a:extLst>
          </p:cNvPr>
          <p:cNvSpPr/>
          <p:nvPr/>
        </p:nvSpPr>
        <p:spPr>
          <a:xfrm>
            <a:off x="3249638" y="1406769"/>
            <a:ext cx="5416062" cy="4600136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7819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453</TotalTime>
  <Words>576</Words>
  <Application>Microsoft Office PowerPoint</Application>
  <PresentationFormat>Widescreen</PresentationFormat>
  <Paragraphs>95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SSC</dc:creator>
  <cp:lastModifiedBy>SSC</cp:lastModifiedBy>
  <cp:revision>5</cp:revision>
  <dcterms:created xsi:type="dcterms:W3CDTF">2026-01-05T14:40:21Z</dcterms:created>
  <dcterms:modified xsi:type="dcterms:W3CDTF">2026-01-07T16:50:12Z</dcterms:modified>
</cp:coreProperties>
</file>